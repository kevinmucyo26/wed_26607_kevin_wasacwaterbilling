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Crimson Pro Semi Bold"/>
      <p:regular r:id="rId17"/>
    </p:embeddedFont>
    <p:embeddedFont>
      <p:font typeface="Crimson Pro Semi Bold"/>
      <p:regular r:id="rId18"/>
    </p:embeddedFont>
    <p:embeddedFont>
      <p:font typeface="Crimson Pro Semi Bold"/>
      <p:regular r:id="rId19"/>
    </p:embeddedFont>
    <p:embeddedFont>
      <p:font typeface="Crimson Pro Semi Bold"/>
      <p:regular r:id="rId20"/>
    </p:embeddedFont>
    <p:embeddedFont>
      <p:font typeface="Heebo"/>
      <p:regular r:id="rId21"/>
    </p:embeddedFont>
    <p:embeddedFont>
      <p:font typeface="Heeb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77973" y="1171932"/>
            <a:ext cx="108744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Water Billing and Usage Management System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4250174" y="1971437"/>
            <a:ext cx="61299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WASAC Agent Database Solution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287857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222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Kevin MUCYO | Student ID: 26607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8404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Course: Database Development with PL/SQL (INSY 8311)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4585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Institution: Adventist University of Central Africa (AUCA)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0765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Lecturer: Eric Maniraguha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6946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Date: December 2025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12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23655"/>
            <a:ext cx="4196358" cy="1240393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water billing processes are error-prone and time-consuming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16962" y="3523655"/>
            <a:ext cx="4196358" cy="1240393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74256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 tiered tariff calculations require extensive manual work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640133" y="3523655"/>
            <a:ext cx="4196358" cy="1240393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97427" y="378094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Payment tracking is inefficient and prone to errors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90862"/>
            <a:ext cx="6407944" cy="877491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24815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real-time reporting capabilities for decision-making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990862"/>
            <a:ext cx="6407944" cy="877491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5842" y="524815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Lack of audit trail for compliance and security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220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Our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84615"/>
            <a:ext cx="4196358" cy="1179433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Billing System using Oracle PL/SQL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5216962" y="3584615"/>
            <a:ext cx="4196358" cy="1179433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5443776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5-Tier Tariff Structure with automatic calculation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9640133" y="3584615"/>
            <a:ext cx="4196358" cy="1179433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9866948" y="3811429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Reports for usage, payments, and overdue accounts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90862"/>
            <a:ext cx="6407944" cy="816531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21767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Logging System for security and compliance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4990862"/>
            <a:ext cx="6407944" cy="816531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655362" y="521767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Holiday/Weekday Restrictions to enforce business rules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38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Database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36207"/>
            <a:ext cx="6407944" cy="470154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066687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1942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973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 Core Tables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46436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51084" y="390656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tariff_rates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084" y="434875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meter_readings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51084" y="479095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bills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51084" y="5233154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payments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51084" y="5675352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public_holidays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51084" y="611755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audit_log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2036207"/>
            <a:ext cx="6408063" cy="4701540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9027" y="2066687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0462498" y="219420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685842" y="29739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85842" y="3464362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Referential integrity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685842" y="390656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Check constraints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685842" y="434875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Sequences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685842" y="479095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Indexes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790" y="69928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Note: ER Diagram to be inserted here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584954"/>
            <a:ext cx="5972294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Process Workflow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2950" y="1672709"/>
            <a:ext cx="1314450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workflow is detailed in a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BPMN Diagram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featuring distinct swimlanes for the Agent, System, and Customer.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250996"/>
            <a:ext cx="6572250" cy="849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5119" y="3312200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Meter Reading</a:t>
            </a:r>
            <a:endParaRPr lang="en-US" sz="2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50996"/>
            <a:ext cx="6572250" cy="849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7369" y="3312200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Usage Calculation</a:t>
            </a:r>
            <a:endParaRPr lang="en-US" sz="2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856077"/>
            <a:ext cx="6572250" cy="849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5119" y="4917281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Bill Generation</a:t>
            </a:r>
            <a:endParaRPr lang="en-US" sz="2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56077"/>
            <a:ext cx="6572250" cy="849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27369" y="4917281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Payment</a:t>
            </a:r>
            <a:endParaRPr lang="en-US" sz="20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5461159"/>
            <a:ext cx="6572250" cy="8490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55119" y="6522363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Status Update</a:t>
            </a:r>
            <a:endParaRPr lang="en-US" sz="20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5461159"/>
            <a:ext cx="6572250" cy="84903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7369" y="6522363"/>
            <a:ext cx="265342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Reports</a:t>
            </a:r>
            <a:endParaRPr lang="en-US" sz="2050" dirty="0"/>
          </a:p>
        </p:txBody>
      </p:sp>
      <p:sp>
        <p:nvSpPr>
          <p:cNvPr id="16" name="Text 8"/>
          <p:cNvSpPr/>
          <p:nvPr/>
        </p:nvSpPr>
        <p:spPr>
          <a:xfrm>
            <a:off x="742950" y="7304961"/>
            <a:ext cx="13144500" cy="33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Note: BPMN Diagram screenshot to be inserted here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8936"/>
            <a:ext cx="62423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Implementation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343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201823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7621" y="2371844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8+ Functions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3599497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Tiered tariff calculation, customer balance, usage calculations, etc.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171343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9027" y="2201823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2498" y="2371844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5842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10+ Procedures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85842" y="3599497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 customer, record meter reading, generate bills, process payments, etc.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4270" y="4839891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27621" y="5009912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084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11+ Triggers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51084" y="6237565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Auto-calculate usage, auto-generate bills, update status, holiday restrictions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59027" y="4839891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62498" y="5009912"/>
            <a:ext cx="340162" cy="3401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5842" y="57471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Packages &amp; Cursors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85842" y="6237565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Billing package, explicit cursors for bulk operations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8838"/>
            <a:ext cx="69753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Features &amp; Security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91245"/>
            <a:ext cx="4196358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518059"/>
            <a:ext cx="35506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Holiday/Weekday Restrictions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00847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DML DENIED Monday-Friday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020604" y="445067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DML ALLOWED Saturday-Sunday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4892873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DML DENIED on public holidays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91245"/>
            <a:ext cx="4196358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443776" y="35180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Audit Logging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3776" y="400847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attempts logged (ALLOWED/DENIED)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91245"/>
            <a:ext cx="4196358" cy="2191345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866948" y="35180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66948" y="400847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Comprehensive trigger-based enforcement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57377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Note: Code and audit log screenshots to be inserted here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4505"/>
            <a:ext cx="77627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Business Intelligence &amp; Analytics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33077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16 KPIs Defined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54140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Revenue, collection rate, average usage, overdue accounts, etc.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33077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 Dashboard Mockups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541401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Summary, Audit Dashboard, Performance Dashboard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916912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314372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33077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Advanced SQL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54140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Window functions (ROW_NUMBER, RANK, LAG, LEAD), explicit cursors, analytical queries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1120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Note: Dashboard mockups and analytics screenshots to be inserted here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13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Results &amp; Testing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43708"/>
            <a:ext cx="6407944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074188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3827621" y="22017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Volume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347186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100-500 rows per table with realistic test data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043708"/>
            <a:ext cx="6408063" cy="2411254"/>
          </a:xfrm>
          <a:prstGeom prst="roundRect">
            <a:avLst>
              <a:gd name="adj" fmla="val 141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9027" y="2074188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10462498" y="22017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685842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Test Results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85842" y="3471863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functions/procedures tested and VALID, triggers documented, audit logging verified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681776"/>
            <a:ext cx="6407944" cy="2048351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270" y="4712256"/>
            <a:ext cx="6346984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3827621" y="48397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051084" y="56195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084" y="610993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Efficient queries, proper indexing, optimized procedures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681776"/>
            <a:ext cx="6408063" cy="2048351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59027" y="4712256"/>
            <a:ext cx="6347103" cy="680442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10462498" y="4839772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21" name="Text 19"/>
          <p:cNvSpPr/>
          <p:nvPr/>
        </p:nvSpPr>
        <p:spPr>
          <a:xfrm>
            <a:off x="7685842" y="56195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Validation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685842" y="610993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Comprehensive testing across all modules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3790" y="69852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Note: Test execution screenshots, code samples, and database structure to be inserted here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818" y="506611"/>
            <a:ext cx="4658797" cy="57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 &amp; Next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2818" y="1447919"/>
            <a:ext cx="6580584" cy="3224689"/>
          </a:xfrm>
          <a:prstGeom prst="roundRect">
            <a:avLst>
              <a:gd name="adj" fmla="val 854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826413" y="1631513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2150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860" y="1782961"/>
            <a:ext cx="247888" cy="247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6413" y="2366010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Achievements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6413" y="2763083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billing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6413" y="3121104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6413" y="3479125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Holiday restrictions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6413" y="3837146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reporting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6413" y="4195167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Comprehensive testing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06997" y="1447919"/>
            <a:ext cx="6580584" cy="3224689"/>
          </a:xfrm>
          <a:prstGeom prst="roundRect">
            <a:avLst>
              <a:gd name="adj" fmla="val 854"/>
            </a:avLst>
          </a:prstGeom>
          <a:solidFill>
            <a:srgbClr val="F2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7590592" y="1631513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2150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2039" y="1782961"/>
            <a:ext cx="247888" cy="247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90592" y="2366010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Lessons Learned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590592" y="2763083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PL/SQL best practices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590592" y="3121104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590592" y="3479125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590592" y="3837146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2818" y="4856202"/>
            <a:ext cx="6580584" cy="2866668"/>
          </a:xfrm>
          <a:prstGeom prst="roundRect">
            <a:avLst>
              <a:gd name="adj" fmla="val 961"/>
            </a:avLst>
          </a:prstGeom>
          <a:solidFill>
            <a:srgbClr val="F2EEEE"/>
          </a:solidFill>
          <a:ln/>
        </p:spPr>
      </p:sp>
      <p:sp>
        <p:nvSpPr>
          <p:cNvPr id="21" name="Shape 17"/>
          <p:cNvSpPr/>
          <p:nvPr/>
        </p:nvSpPr>
        <p:spPr>
          <a:xfrm>
            <a:off x="826413" y="5039797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2150F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860" y="5191244"/>
            <a:ext cx="247888" cy="247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6413" y="5774293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26413" y="6171367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 UI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26413" y="6529387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826413" y="6887408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Advanced analytics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26413" y="7245429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Payment gateway integration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7406997" y="4856202"/>
            <a:ext cx="6580584" cy="2866668"/>
          </a:xfrm>
          <a:prstGeom prst="roundRect">
            <a:avLst>
              <a:gd name="adj" fmla="val 961"/>
            </a:avLst>
          </a:prstGeom>
          <a:solidFill>
            <a:srgbClr val="F2EEEE"/>
          </a:solidFill>
          <a:ln/>
        </p:spPr>
      </p:sp>
      <p:sp>
        <p:nvSpPr>
          <p:cNvPr id="29" name="Shape 24"/>
          <p:cNvSpPr/>
          <p:nvPr/>
        </p:nvSpPr>
        <p:spPr>
          <a:xfrm>
            <a:off x="7590592" y="5039797"/>
            <a:ext cx="550902" cy="550902"/>
          </a:xfrm>
          <a:prstGeom prst="roundRect">
            <a:avLst>
              <a:gd name="adj" fmla="val 16596574"/>
            </a:avLst>
          </a:prstGeom>
          <a:solidFill>
            <a:srgbClr val="2150F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2039" y="5191244"/>
            <a:ext cx="247888" cy="2478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590592" y="5774293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Thank You &amp; Q&amp;A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7590592" y="6171367"/>
            <a:ext cx="6213396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appreciate your attention and look forward to answering your questions.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2025-12-09T16:30:08Z</dcterms:created>
  <dcterms:modified xsi:type="dcterms:W3CDTF">2025-12-09T16:30:08Z</dcterms:modified>
</cp:coreProperties>
</file>