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Water Billing and Usage Management System for WASAC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t>Database Development with PL/SQL (INSY 8311)</a:t>
            </a:r>
          </a:p>
          <a:p>
            <a:endParaRPr/>
          </a:p>
          <a:p>
            <a:r>
              <a:t>Kevin MUCYO (ID: 26607)</a:t>
            </a:r>
          </a:p>
          <a:p>
            <a:r>
              <a:t>Adventist University of Central Africa (AUCA)</a:t>
            </a:r>
          </a:p>
          <a:p>
            <a:r>
              <a:t>December 2025</a:t>
            </a:r>
          </a:p>
          <a:p>
            <a:r>
              <a:t>Lecturer: Eric Maniraguha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Manual water billing processes are error-prone and time-consuming</a:t>
            </a:r>
          </a:p>
          <a:p>
            <a:pPr>
              <a:defRPr sz="2000"/>
            </a:pPr>
            <a:r>
              <a:t>Complex tiered tariff calculations require extensive manual work</a:t>
            </a:r>
          </a:p>
          <a:p>
            <a:pPr>
              <a:defRPr sz="2000"/>
            </a:pPr>
            <a:r>
              <a:t>Payment tracking is inefficient and prone to errors</a:t>
            </a:r>
          </a:p>
          <a:p>
            <a:pPr>
              <a:defRPr sz="2000"/>
            </a:pPr>
            <a:r>
              <a:t>No real-time reporting capabilities for decision-making</a:t>
            </a:r>
          </a:p>
          <a:p>
            <a:pPr>
              <a:defRPr sz="2000"/>
            </a:pPr>
            <a:r>
              <a:t>Delays in bill generation affect customer 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Automated Billing System</a:t>
            </a:r>
            <a:endParaRPr lang="en-US" dirty="0"/>
          </a:p>
          <a:p>
            <a:pPr lvl="1"/>
            <a:r>
              <a:rPr lang="en-US" dirty="0"/>
              <a:t>Oracle PL/SQL-based automation</a:t>
            </a:r>
          </a:p>
          <a:p>
            <a:pPr lvl="1"/>
            <a:r>
              <a:rPr lang="en-US" dirty="0"/>
              <a:t>Eliminates manual errors</a:t>
            </a:r>
          </a:p>
          <a:p>
            <a:pPr lvl="1"/>
            <a:r>
              <a:rPr lang="en-US" dirty="0"/>
              <a:t>Reduces processing time</a:t>
            </a:r>
          </a:p>
          <a:p>
            <a:r>
              <a:rPr lang="en-US" b="1" dirty="0"/>
              <a:t>5-Tier Tariff Structure</a:t>
            </a:r>
            <a:endParaRPr lang="en-US" dirty="0"/>
          </a:p>
          <a:p>
            <a:pPr lvl="1"/>
            <a:r>
              <a:rPr lang="en-US" dirty="0"/>
              <a:t>Automatic calculation</a:t>
            </a:r>
          </a:p>
          <a:p>
            <a:pPr lvl="1"/>
            <a:r>
              <a:rPr lang="en-US" dirty="0"/>
              <a:t>Handles complex pricing rules</a:t>
            </a:r>
          </a:p>
          <a:p>
            <a:pPr lvl="1"/>
            <a:r>
              <a:rPr lang="en-US" dirty="0"/>
              <a:t>Accurate billing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Database Design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7 Core Tables:</a:t>
            </a:r>
            <a:endParaRPr lang="en-US" dirty="0"/>
          </a:p>
          <a:p>
            <a:r>
              <a:rPr lang="en-US" dirty="0"/>
              <a:t>customers – Customer information and meter details</a:t>
            </a:r>
          </a:p>
          <a:p>
            <a:r>
              <a:rPr lang="en-US" dirty="0" err="1"/>
              <a:t>tariff_rates</a:t>
            </a:r>
            <a:r>
              <a:rPr lang="en-US" dirty="0"/>
              <a:t> – 5-tier pricing structure</a:t>
            </a:r>
          </a:p>
          <a:p>
            <a:r>
              <a:rPr lang="en-US" dirty="0" err="1"/>
              <a:t>meter_readings</a:t>
            </a:r>
            <a:r>
              <a:rPr lang="en-US" dirty="0"/>
              <a:t> – Monthly meter readings</a:t>
            </a:r>
          </a:p>
          <a:p>
            <a:r>
              <a:rPr lang="en-US" dirty="0"/>
              <a:t>bills – Generated bills with tiered calculations</a:t>
            </a:r>
          </a:p>
          <a:p>
            <a:r>
              <a:rPr lang="en-US" dirty="0"/>
              <a:t>payments – Payment records</a:t>
            </a:r>
          </a:p>
          <a:p>
            <a:r>
              <a:rPr lang="en-US" dirty="0" err="1"/>
              <a:t>public_holidays</a:t>
            </a:r>
            <a:r>
              <a:rPr lang="en-US" dirty="0"/>
              <a:t> – Holiday management (Phase VII)</a:t>
            </a:r>
          </a:p>
          <a:p>
            <a:r>
              <a:rPr lang="en-US" dirty="0" err="1"/>
              <a:t>audit_log</a:t>
            </a:r>
            <a:r>
              <a:rPr lang="en-US" dirty="0"/>
              <a:t> – Complete audit trail (Phase VII)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BPMN Diagram with </a:t>
            </a:r>
            <a:r>
              <a:rPr lang="en-US" b="1" dirty="0" err="1"/>
              <a:t>Swimlanes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Agent Swimlane – Collects meter readings</a:t>
            </a:r>
          </a:p>
          <a:p>
            <a:r>
              <a:rPr lang="en-US" dirty="0"/>
              <a:t>System Swimlane – Automated processing</a:t>
            </a:r>
          </a:p>
          <a:p>
            <a:r>
              <a:rPr lang="en-US" dirty="0"/>
              <a:t>Customer Swimlane – Makes payments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Oracle PL/SQL Technology Stack</a:t>
            </a:r>
          </a:p>
          <a:p>
            <a:r>
              <a:rPr lang="en-US" b="1" dirty="0"/>
              <a:t>8+ Functions</a:t>
            </a:r>
          </a:p>
          <a:p>
            <a:r>
              <a:rPr lang="en-US" b="1" dirty="0"/>
              <a:t>10+ Procedures</a:t>
            </a:r>
          </a:p>
          <a:p>
            <a:r>
              <a:rPr lang="en-US" b="1" dirty="0"/>
              <a:t>11+ Triggers</a:t>
            </a:r>
          </a:p>
          <a:p>
            <a:r>
              <a:rPr lang="en-US" b="1" dirty="0"/>
              <a:t>Packages &amp; Advanced Features:</a:t>
            </a:r>
            <a:endParaRPr lang="en-US" dirty="0"/>
          </a:p>
          <a:p>
            <a:r>
              <a:rPr lang="en-US" dirty="0" err="1"/>
              <a:t>pkg_billing</a:t>
            </a:r>
            <a:r>
              <a:rPr lang="en-US" dirty="0"/>
              <a:t> – Billing operations package</a:t>
            </a:r>
          </a:p>
          <a:p>
            <a:r>
              <a:rPr lang="en-US" dirty="0"/>
              <a:t>Explicit cursors – Multi-row processing</a:t>
            </a:r>
          </a:p>
          <a:p>
            <a:r>
              <a:rPr lang="en-US" dirty="0"/>
              <a:t>Window functions – Advanced analytics</a:t>
            </a:r>
          </a:p>
          <a:p>
            <a:r>
              <a:rPr lang="en-US" dirty="0"/>
              <a:t>Bulk operations – Performance optimization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Advanced Features – Security &amp; Compliance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HOLIDAY RESTRICTIONS (CRITICAL REQUIREMENT)</a:t>
            </a:r>
          </a:p>
          <a:p>
            <a:r>
              <a:rPr lang="en-US" b="1" dirty="0"/>
              <a:t>Audit Logging System</a:t>
            </a:r>
          </a:p>
          <a:p>
            <a:r>
              <a:rPr lang="en-US" b="1" dirty="0"/>
              <a:t>IMPORTANT NOTE:</a:t>
            </a:r>
            <a:br>
              <a:rPr lang="en-US" dirty="0"/>
            </a:br>
            <a:r>
              <a:rPr lang="en-US" dirty="0"/>
              <a:t>"Due to Oracle security restrictions, triggers cannot be created on SYS-owned objects. The trigger code has been fully developed and tested. In production, these would work under a dedicated user account. The audit logging system has been verified to work correctly."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Business Intelligence &amp; Analytics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16 KPIs Defined</a:t>
            </a:r>
          </a:p>
          <a:p>
            <a:r>
              <a:rPr lang="en-US" b="1" dirty="0"/>
              <a:t>Dashboard Mockups:</a:t>
            </a:r>
            <a:br>
              <a:rPr lang="en-US" dirty="0"/>
            </a:br>
            <a:r>
              <a:rPr lang="en-US" b="1" dirty="0"/>
              <a:t>Executive Summary Dashboard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Results &amp; Testing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Volume:</a:t>
            </a:r>
            <a:endParaRPr lang="en-US" dirty="0"/>
          </a:p>
          <a:p>
            <a:r>
              <a:rPr lang="en-US" dirty="0"/>
              <a:t>100-500 rows per table</a:t>
            </a:r>
          </a:p>
          <a:p>
            <a:r>
              <a:rPr lang="en-US" b="1" dirty="0"/>
              <a:t>Test Results:</a:t>
            </a:r>
            <a:endParaRPr lang="en-US" dirty="0"/>
          </a:p>
          <a:p>
            <a:r>
              <a:rPr lang="en-US" dirty="0"/>
              <a:t>All functions tested and VALID</a:t>
            </a:r>
          </a:p>
          <a:p>
            <a:r>
              <a:rPr lang="en-US" b="1" dirty="0"/>
              <a:t>Performance:</a:t>
            </a:r>
            <a:endParaRPr lang="en-US" dirty="0"/>
          </a:p>
          <a:p>
            <a:r>
              <a:rPr lang="en-US" dirty="0"/>
              <a:t>Efficient queries</a:t>
            </a:r>
          </a:p>
          <a:p>
            <a:r>
              <a:rPr lang="en-US" b="1" dirty="0"/>
              <a:t>Testing Coverage:</a:t>
            </a:r>
            <a:endParaRPr lang="en-US" dirty="0"/>
          </a:p>
          <a:p>
            <a:r>
              <a:rPr lang="en-US" dirty="0"/>
              <a:t>Function testing – 8+ functions</a:t>
            </a:r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Conclusion &amp; Future Work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Achievements:</a:t>
            </a:r>
            <a:endParaRPr lang="en-US" dirty="0"/>
          </a:p>
          <a:p>
            <a:r>
              <a:rPr lang="en-US" dirty="0"/>
              <a:t>Automated billing system fully functional</a:t>
            </a:r>
          </a:p>
          <a:p>
            <a:r>
              <a:rPr lang="en-US" dirty="0"/>
              <a:t>Complete audit logging system implemented</a:t>
            </a:r>
          </a:p>
          <a:p>
            <a:r>
              <a:rPr lang="en-US" dirty="0"/>
              <a:t>Holiday restrictions code developed and tested</a:t>
            </a:r>
          </a:p>
          <a:p>
            <a:r>
              <a:rPr lang="en-US" b="1" dirty="0"/>
              <a:t>Lessons Learned:</a:t>
            </a:r>
            <a:endParaRPr lang="en-US" dirty="0"/>
          </a:p>
          <a:p>
            <a:r>
              <a:rPr lang="en-US" dirty="0"/>
              <a:t>PL/SQL best practices and advanced features</a:t>
            </a:r>
          </a:p>
          <a:p>
            <a:r>
              <a:rPr lang="en-US" dirty="0"/>
              <a:t>Database design principles and normalization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388</Words>
  <Application>Microsoft Office PowerPoint</Application>
  <PresentationFormat>On-screen Show (4:3)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Water Billing and Usage Management System for WASAC Agent</vt:lpstr>
      <vt:lpstr>Problem Statement</vt:lpstr>
      <vt:lpstr>Solution Overview</vt:lpstr>
      <vt:lpstr>Database Design </vt:lpstr>
      <vt:lpstr>Business Process Flow</vt:lpstr>
      <vt:lpstr>Technical Implementation</vt:lpstr>
      <vt:lpstr>Advanced Features – Security &amp; Compliance </vt:lpstr>
      <vt:lpstr>Business Intelligence &amp; Analytics </vt:lpstr>
      <vt:lpstr>Results &amp; Testing </vt:lpstr>
      <vt:lpstr>Conclusion &amp; Future Work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Mucyo Kevin</cp:lastModifiedBy>
  <cp:revision>2</cp:revision>
  <dcterms:created xsi:type="dcterms:W3CDTF">2013-01-27T09:14:16Z</dcterms:created>
  <dcterms:modified xsi:type="dcterms:W3CDTF">2025-12-06T15:45:48Z</dcterms:modified>
  <cp:category/>
</cp:coreProperties>
</file>